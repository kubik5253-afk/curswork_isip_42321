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58" r:id="rId4"/>
    <p:sldId id="259" r:id="rId5"/>
    <p:sldId id="260" r:id="rId6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605C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71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1D1D1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60605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1D1D1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0605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1D1D1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1D1D1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1729" y="3492246"/>
            <a:ext cx="7214234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1D1D1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1304" y="1327531"/>
            <a:ext cx="13068935" cy="4977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60605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0089" y="275589"/>
            <a:ext cx="10649585" cy="98551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827655" marR="5080" indent="-2815590">
              <a:lnSpc>
                <a:spcPts val="2400"/>
              </a:lnSpc>
              <a:spcBef>
                <a:spcPts val="375"/>
              </a:spcBef>
            </a:pPr>
            <a:r>
              <a:rPr sz="2200" spc="-30" dirty="0">
                <a:solidFill>
                  <a:srgbClr val="1D1D1B"/>
                </a:solidFill>
                <a:latin typeface="Times New Roman"/>
                <a:cs typeface="Times New Roman"/>
              </a:rPr>
              <a:t>ГОСУДАРСТВЕННОЕ</a:t>
            </a:r>
            <a:r>
              <a:rPr sz="2200" spc="-25" dirty="0">
                <a:solidFill>
                  <a:srgbClr val="1D1D1B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1D1D1B"/>
                </a:solidFill>
                <a:latin typeface="Times New Roman"/>
                <a:cs typeface="Times New Roman"/>
              </a:rPr>
              <a:t>АВТОНОМНОЕ</a:t>
            </a:r>
            <a:r>
              <a:rPr sz="2200" spc="-55" dirty="0">
                <a:solidFill>
                  <a:srgbClr val="1D1D1B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1D1D1B"/>
                </a:solidFill>
                <a:latin typeface="Times New Roman"/>
                <a:cs typeface="Times New Roman"/>
              </a:rPr>
              <a:t>ПРОФЕССИОНАЛЬНОЕ</a:t>
            </a:r>
            <a:r>
              <a:rPr sz="2200" spc="-25" dirty="0">
                <a:solidFill>
                  <a:srgbClr val="1D1D1B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1D1D1B"/>
                </a:solidFill>
                <a:latin typeface="Times New Roman"/>
                <a:cs typeface="Times New Roman"/>
              </a:rPr>
              <a:t>ОБРАЗОВАТЕЛЬНОЕ </a:t>
            </a:r>
            <a:r>
              <a:rPr sz="2200" dirty="0">
                <a:solidFill>
                  <a:srgbClr val="1D1D1B"/>
                </a:solidFill>
                <a:latin typeface="Times New Roman"/>
                <a:cs typeface="Times New Roman"/>
              </a:rPr>
              <a:t>УЧРЕЖДЕНИЕ</a:t>
            </a:r>
            <a:r>
              <a:rPr sz="2200" spc="-75" dirty="0">
                <a:solidFill>
                  <a:srgbClr val="1D1D1B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1D1D1B"/>
                </a:solidFill>
                <a:latin typeface="Times New Roman"/>
                <a:cs typeface="Times New Roman"/>
              </a:rPr>
              <a:t>ИРКУТСКОЙ</a:t>
            </a:r>
            <a:r>
              <a:rPr sz="2200" spc="-90" dirty="0">
                <a:solidFill>
                  <a:srgbClr val="1D1D1B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1D1D1B"/>
                </a:solidFill>
                <a:latin typeface="Times New Roman"/>
                <a:cs typeface="Times New Roman"/>
              </a:rPr>
              <a:t>ОБЛАСТИ</a:t>
            </a:r>
            <a:endParaRPr sz="2200">
              <a:latin typeface="Times New Roman"/>
              <a:cs typeface="Times New Roman"/>
            </a:endParaRPr>
          </a:p>
          <a:p>
            <a:pPr marL="1860550">
              <a:lnSpc>
                <a:spcPts val="2480"/>
              </a:lnSpc>
            </a:pPr>
            <a:r>
              <a:rPr sz="2200" spc="-25" dirty="0">
                <a:solidFill>
                  <a:srgbClr val="1D1D1B"/>
                </a:solidFill>
                <a:latin typeface="Times New Roman"/>
                <a:cs typeface="Times New Roman"/>
              </a:rPr>
              <a:t>«АНГАРСКИЙ</a:t>
            </a:r>
            <a:r>
              <a:rPr sz="2200" spc="-80" dirty="0">
                <a:solidFill>
                  <a:srgbClr val="1D1D1B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1D1D1B"/>
                </a:solidFill>
                <a:latin typeface="Times New Roman"/>
                <a:cs typeface="Times New Roman"/>
              </a:rPr>
              <a:t>ТЕХНИКУМ</a:t>
            </a:r>
            <a:r>
              <a:rPr sz="2200" spc="-65" dirty="0">
                <a:solidFill>
                  <a:srgbClr val="1D1D1B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1D1D1B"/>
                </a:solidFill>
                <a:latin typeface="Times New Roman"/>
                <a:cs typeface="Times New Roman"/>
              </a:rPr>
              <a:t>СТРОИТЕЛЬНЫХ</a:t>
            </a:r>
            <a:r>
              <a:rPr sz="2200" spc="-80" dirty="0">
                <a:solidFill>
                  <a:srgbClr val="1D1D1B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1D1D1B"/>
                </a:solidFill>
                <a:latin typeface="Times New Roman"/>
                <a:cs typeface="Times New Roman"/>
              </a:rPr>
              <a:t>ТЕХНОЛОГИЙ»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6411" y="2191096"/>
            <a:ext cx="10492105" cy="1538605"/>
          </a:xfrm>
          <a:prstGeom prst="rect">
            <a:avLst/>
          </a:prstGeom>
        </p:spPr>
        <p:txBody>
          <a:bodyPr vert="horz" wrap="square" lIns="0" tIns="354965" rIns="0" bIns="0" rtlCol="0">
            <a:spAutoFit/>
          </a:bodyPr>
          <a:lstStyle/>
          <a:p>
            <a:pPr marL="29845" algn="ctr">
              <a:lnSpc>
                <a:spcPct val="100000"/>
              </a:lnSpc>
              <a:spcBef>
                <a:spcPts val="2795"/>
              </a:spcBef>
            </a:pPr>
            <a:r>
              <a:rPr lang="ru-RU" sz="3900" b="1" spc="-35" dirty="0">
                <a:solidFill>
                  <a:srgbClr val="1D1D1B"/>
                </a:solidFill>
                <a:latin typeface="Times New Roman"/>
                <a:cs typeface="Times New Roman"/>
              </a:rPr>
              <a:t>КУРСОВАЯ</a:t>
            </a:r>
            <a:r>
              <a:rPr sz="3900" b="1" spc="-35" dirty="0">
                <a:solidFill>
                  <a:srgbClr val="1D1D1B"/>
                </a:solidFill>
                <a:latin typeface="Times New Roman"/>
                <a:cs typeface="Times New Roman"/>
              </a:rPr>
              <a:t> </a:t>
            </a:r>
            <a:r>
              <a:rPr sz="3900" b="1" spc="-405" dirty="0">
                <a:solidFill>
                  <a:srgbClr val="1D1D1B"/>
                </a:solidFill>
                <a:latin typeface="Times New Roman"/>
                <a:cs typeface="Times New Roman"/>
              </a:rPr>
              <a:t>Р</a:t>
            </a:r>
            <a:r>
              <a:rPr sz="3900" b="1" spc="105" dirty="0">
                <a:solidFill>
                  <a:srgbClr val="1D1D1B"/>
                </a:solidFill>
                <a:latin typeface="Times New Roman"/>
                <a:cs typeface="Times New Roman"/>
              </a:rPr>
              <a:t>А</a:t>
            </a:r>
            <a:r>
              <a:rPr sz="3900" b="1" spc="90" dirty="0">
                <a:solidFill>
                  <a:srgbClr val="1D1D1B"/>
                </a:solidFill>
                <a:latin typeface="Times New Roman"/>
                <a:cs typeface="Times New Roman"/>
              </a:rPr>
              <a:t>Б</a:t>
            </a:r>
            <a:r>
              <a:rPr sz="3900" b="1" spc="110" dirty="0">
                <a:solidFill>
                  <a:srgbClr val="1D1D1B"/>
                </a:solidFill>
                <a:latin typeface="Times New Roman"/>
                <a:cs typeface="Times New Roman"/>
              </a:rPr>
              <a:t>О</a:t>
            </a:r>
            <a:r>
              <a:rPr sz="3900" b="1" spc="-85" dirty="0">
                <a:solidFill>
                  <a:srgbClr val="1D1D1B"/>
                </a:solidFill>
                <a:latin typeface="Times New Roman"/>
                <a:cs typeface="Times New Roman"/>
              </a:rPr>
              <a:t>Т</a:t>
            </a:r>
            <a:r>
              <a:rPr sz="3900" b="1" spc="110" dirty="0">
                <a:solidFill>
                  <a:srgbClr val="1D1D1B"/>
                </a:solidFill>
                <a:latin typeface="Times New Roman"/>
                <a:cs typeface="Times New Roman"/>
              </a:rPr>
              <a:t>А</a:t>
            </a:r>
            <a:endParaRPr sz="3900" b="1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655"/>
              </a:spcBef>
            </a:pPr>
            <a:r>
              <a:rPr sz="2400" spc="-10" dirty="0">
                <a:solidFill>
                  <a:srgbClr val="1D1D1B"/>
                </a:solidFill>
                <a:latin typeface="Times New Roman"/>
                <a:cs typeface="Times New Roman"/>
              </a:rPr>
              <a:t>Тема:</a:t>
            </a:r>
            <a:r>
              <a:rPr sz="2400" spc="-70" dirty="0">
                <a:solidFill>
                  <a:srgbClr val="1D1D1B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D1D1B"/>
                </a:solidFill>
                <a:latin typeface="Times New Roman"/>
                <a:cs typeface="Times New Roman"/>
              </a:rPr>
              <a:t>"</a:t>
            </a:r>
            <a:r>
              <a:rPr lang="ru-RU" sz="2400" spc="-10" dirty="0">
                <a:solidFill>
                  <a:srgbClr val="1D1D1B"/>
                </a:solidFill>
                <a:latin typeface="Times New Roman"/>
                <a:cs typeface="Times New Roman"/>
              </a:rPr>
              <a:t>Разработка </a:t>
            </a:r>
            <a:r>
              <a:rPr lang="en-US" sz="2400" spc="-10" dirty="0">
                <a:solidFill>
                  <a:srgbClr val="1D1D1B"/>
                </a:solidFill>
                <a:latin typeface="Times New Roman"/>
                <a:cs typeface="Times New Roman"/>
              </a:rPr>
              <a:t>web-</a:t>
            </a:r>
            <a:r>
              <a:rPr lang="ru-RU" sz="2400" spc="-10" dirty="0">
                <a:solidFill>
                  <a:srgbClr val="1D1D1B"/>
                </a:solidFill>
                <a:latin typeface="Times New Roman"/>
                <a:cs typeface="Times New Roman"/>
              </a:rPr>
              <a:t>сервиса</a:t>
            </a:r>
            <a:r>
              <a:rPr lang="en-US" sz="2400" spc="-10" dirty="0">
                <a:solidFill>
                  <a:srgbClr val="1D1D1B"/>
                </a:solidFill>
                <a:latin typeface="Times New Roman"/>
                <a:cs typeface="Times New Roman"/>
              </a:rPr>
              <a:t>”</a:t>
            </a:r>
            <a:r>
              <a:rPr lang="ru-RU" sz="2400" spc="-10" dirty="0">
                <a:solidFill>
                  <a:srgbClr val="1D1D1B"/>
                </a:solidFill>
                <a:latin typeface="Times New Roman"/>
                <a:cs typeface="Times New Roman"/>
              </a:rPr>
              <a:t>Я не робот</a:t>
            </a:r>
            <a:r>
              <a:rPr lang="en-US" sz="2400" spc="-10" dirty="0">
                <a:solidFill>
                  <a:srgbClr val="1D1D1B"/>
                </a:solidFill>
                <a:latin typeface="Times New Roman"/>
                <a:cs typeface="Times New Roman"/>
              </a:rPr>
              <a:t>”</a:t>
            </a:r>
            <a:r>
              <a:rPr sz="2400" spc="-10" dirty="0">
                <a:solidFill>
                  <a:srgbClr val="1D1D1B"/>
                </a:solidFill>
                <a:latin typeface="Times New Roman"/>
                <a:cs typeface="Times New Roman"/>
              </a:rPr>
              <a:t>"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46566" y="5915405"/>
            <a:ext cx="5105400" cy="649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ts val="2510"/>
              </a:lnSpc>
              <a:spcBef>
                <a:spcPts val="90"/>
              </a:spcBef>
            </a:pPr>
            <a:r>
              <a:rPr sz="2000" dirty="0" err="1">
                <a:solidFill>
                  <a:srgbClr val="60605C"/>
                </a:solidFill>
                <a:latin typeface="Times New Roman"/>
                <a:cs typeface="Times New Roman"/>
              </a:rPr>
              <a:t>Выполнил</a:t>
            </a:r>
            <a:r>
              <a:rPr lang="en-US" sz="2000" spc="-60" dirty="0">
                <a:solidFill>
                  <a:srgbClr val="60605C"/>
                </a:solidFill>
                <a:latin typeface="Times New Roman"/>
                <a:cs typeface="Times New Roman"/>
              </a:rPr>
              <a:t>: </a:t>
            </a:r>
            <a:r>
              <a:rPr lang="ru-RU" sz="2000" spc="-30" dirty="0" err="1">
                <a:solidFill>
                  <a:srgbClr val="60605C"/>
                </a:solidFill>
                <a:latin typeface="Times New Roman"/>
                <a:cs typeface="Times New Roman"/>
              </a:rPr>
              <a:t>Мулюков</a:t>
            </a:r>
            <a:r>
              <a:rPr lang="ru-RU" sz="2000" spc="-30" dirty="0">
                <a:solidFill>
                  <a:srgbClr val="60605C"/>
                </a:solidFill>
                <a:latin typeface="Times New Roman"/>
                <a:cs typeface="Times New Roman"/>
              </a:rPr>
              <a:t> Альберт </a:t>
            </a:r>
            <a:r>
              <a:rPr lang="ru-RU" sz="2000" spc="-30" dirty="0" err="1">
                <a:solidFill>
                  <a:srgbClr val="60605C"/>
                </a:solidFill>
                <a:latin typeface="Times New Roman"/>
                <a:cs typeface="Times New Roman"/>
              </a:rPr>
              <a:t>Рамильевич</a:t>
            </a:r>
            <a:r>
              <a:rPr sz="2000" spc="-10" dirty="0">
                <a:solidFill>
                  <a:srgbClr val="60605C"/>
                </a:solidFill>
                <a:latin typeface="Times New Roman"/>
                <a:cs typeface="Times New Roman"/>
              </a:rPr>
              <a:t> </a:t>
            </a:r>
            <a:r>
              <a:rPr sz="2000" spc="-10" dirty="0" err="1">
                <a:solidFill>
                  <a:srgbClr val="60605C"/>
                </a:solidFill>
                <a:latin typeface="Times New Roman"/>
                <a:cs typeface="Times New Roman"/>
              </a:rPr>
              <a:t>Руководитель</a:t>
            </a:r>
            <a:r>
              <a:rPr lang="en-US" sz="2000" spc="-10" dirty="0">
                <a:solidFill>
                  <a:srgbClr val="60605C"/>
                </a:solidFill>
                <a:latin typeface="Times New Roman"/>
                <a:cs typeface="Times New Roman"/>
              </a:rPr>
              <a:t>: </a:t>
            </a:r>
            <a:r>
              <a:rPr sz="2000" dirty="0" err="1">
                <a:solidFill>
                  <a:srgbClr val="60605C"/>
                </a:solidFill>
                <a:latin typeface="Times New Roman"/>
                <a:cs typeface="Times New Roman"/>
              </a:rPr>
              <a:t>Денисюк</a:t>
            </a:r>
            <a:r>
              <a:rPr sz="2000" spc="-75" dirty="0">
                <a:solidFill>
                  <a:srgbClr val="60605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0605C"/>
                </a:solidFill>
                <a:latin typeface="Times New Roman"/>
                <a:cs typeface="Times New Roman"/>
              </a:rPr>
              <a:t>Алексей</a:t>
            </a:r>
            <a:r>
              <a:rPr sz="2000" spc="-75" dirty="0">
                <a:solidFill>
                  <a:srgbClr val="60605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60605C"/>
                </a:solidFill>
                <a:latin typeface="Times New Roman"/>
                <a:cs typeface="Times New Roman"/>
              </a:rPr>
              <a:t>Валерьевич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61252" y="7448804"/>
            <a:ext cx="17145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 err="1">
                <a:solidFill>
                  <a:srgbClr val="60605C"/>
                </a:solidFill>
                <a:latin typeface="Times New Roman"/>
                <a:cs typeface="Times New Roman"/>
              </a:rPr>
              <a:t>Ангарск</a:t>
            </a:r>
            <a:r>
              <a:rPr sz="2200" spc="-70" dirty="0">
                <a:solidFill>
                  <a:srgbClr val="60605C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60605C"/>
                </a:solidFill>
                <a:latin typeface="Times New Roman"/>
                <a:cs typeface="Times New Roman"/>
              </a:rPr>
              <a:t>202</a:t>
            </a:r>
            <a:r>
              <a:rPr lang="ru-RU" sz="2200" spc="-20" dirty="0">
                <a:solidFill>
                  <a:srgbClr val="60605C"/>
                </a:solidFill>
                <a:latin typeface="Times New Roman"/>
                <a:cs typeface="Times New Roman"/>
              </a:rPr>
              <a:t>6</a:t>
            </a:r>
            <a:r>
              <a:rPr sz="2200" spc="-20" dirty="0">
                <a:solidFill>
                  <a:srgbClr val="60605C"/>
                </a:solidFill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B6C1D5-BF74-4313-ADC5-90564B042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643923"/>
            <a:ext cx="12435840" cy="923330"/>
          </a:xfrm>
        </p:spPr>
        <p:txBody>
          <a:bodyPr/>
          <a:lstStyle/>
          <a:p>
            <a:r>
              <a:rPr lang="ru-RU" b="1" dirty="0">
                <a:solidFill>
                  <a:srgbClr val="60605C"/>
                </a:solidFill>
              </a:rPr>
              <a:t>Цель, актуальность, задачи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F6146C-4B83-40F7-9374-66AF167474B4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676400" y="2209800"/>
            <a:ext cx="10241280" cy="1107996"/>
          </a:xfrm>
        </p:spPr>
        <p:txBody>
          <a:bodyPr/>
          <a:lstStyle/>
          <a:p>
            <a:r>
              <a:rPr lang="en-US" b="1" dirty="0"/>
              <a:t>1. </a:t>
            </a:r>
            <a:r>
              <a:rPr lang="ru-RU" b="1" dirty="0"/>
              <a:t>Цель: </a:t>
            </a:r>
            <a:endParaRPr lang="en-US" b="1" dirty="0"/>
          </a:p>
          <a:p>
            <a:r>
              <a:rPr lang="en-US" dirty="0"/>
              <a:t>    C</a:t>
            </a:r>
            <a:r>
              <a:rPr lang="ru-RU" dirty="0" err="1"/>
              <a:t>оздание</a:t>
            </a:r>
            <a:r>
              <a:rPr lang="ru-RU" dirty="0"/>
              <a:t> интерактивного веб-приложения с использованием современных </a:t>
            </a:r>
            <a:r>
              <a:rPr lang="en-US" dirty="0"/>
              <a:t>   </a:t>
            </a:r>
            <a:endParaRPr lang="ru-RU" dirty="0"/>
          </a:p>
          <a:p>
            <a:r>
              <a:rPr lang="ru-RU" dirty="0"/>
              <a:t>    Технологий (Next.js, </a:t>
            </a:r>
            <a:r>
              <a:rPr lang="en-US" dirty="0"/>
              <a:t>Tailwind </a:t>
            </a:r>
            <a:r>
              <a:rPr lang="en-US" dirty="0" err="1"/>
              <a:t>css</a:t>
            </a:r>
            <a:r>
              <a:rPr lang="ru-RU" dirty="0"/>
              <a:t>, </a:t>
            </a:r>
            <a:r>
              <a:rPr lang="en-US" sz="240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Chart.js</a:t>
            </a:r>
            <a:r>
              <a:rPr lang="ru-RU" sz="240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Canvas API</a:t>
            </a:r>
            <a:r>
              <a:rPr lang="ru-RU" dirty="0"/>
              <a:t>).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779DC4C-E1D9-4E8C-9949-9A1BFEC8DEB4}"/>
              </a:ext>
            </a:extLst>
          </p:cNvPr>
          <p:cNvSpPr txBox="1">
            <a:spLocks/>
          </p:cNvSpPr>
          <p:nvPr/>
        </p:nvSpPr>
        <p:spPr>
          <a:xfrm>
            <a:off x="1671021" y="3775677"/>
            <a:ext cx="1024128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400" b="0" i="0">
                <a:solidFill>
                  <a:srgbClr val="60605C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2. </a:t>
            </a:r>
            <a:r>
              <a:rPr lang="ru-RU" b="1" dirty="0"/>
              <a:t>Актуальность темы:</a:t>
            </a:r>
            <a:br>
              <a:rPr lang="ru-RU" dirty="0"/>
            </a:br>
            <a:r>
              <a:rPr lang="ru-RU" dirty="0"/>
              <a:t>    Современная веб-разработка требует создания быстрых и интерактивных </a:t>
            </a:r>
          </a:p>
          <a:p>
            <a:r>
              <a:rPr lang="ru-RU" dirty="0"/>
              <a:t>    приложений. Изучение CAPTCHA позволяет применить актуальные </a:t>
            </a:r>
          </a:p>
          <a:p>
            <a:r>
              <a:rPr lang="ru-RU" dirty="0"/>
              <a:t>    технологии на практике.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7CD8ED68-C9D0-4B43-AB13-62E8381D7AFE}"/>
              </a:ext>
            </a:extLst>
          </p:cNvPr>
          <p:cNvSpPr txBox="1">
            <a:spLocks/>
          </p:cNvSpPr>
          <p:nvPr/>
        </p:nvSpPr>
        <p:spPr>
          <a:xfrm>
            <a:off x="1676400" y="5710886"/>
            <a:ext cx="10241280" cy="1846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400" b="0" i="0">
                <a:solidFill>
                  <a:srgbClr val="60605C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3. </a:t>
            </a:r>
            <a:r>
              <a:rPr lang="ru-RU" b="1" dirty="0"/>
              <a:t>Задачи: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Изучить современные веб-технологии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Спроектировать архитектуру приложения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Реализовать игровые механики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Провести тестирование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2404333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6701" y="378412"/>
            <a:ext cx="747699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Характеристика</a:t>
            </a:r>
            <a:r>
              <a:rPr sz="4400" b="1" spc="-18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spc="-1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платформы</a:t>
            </a:r>
            <a:endParaRPr sz="4400" b="1" dirty="0">
              <a:solidFill>
                <a:srgbClr val="6060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8661" y="3820447"/>
            <a:ext cx="395351" cy="39624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CE36049-C68A-4B0D-8CA7-05FC8E585F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348" y="1558244"/>
            <a:ext cx="396240" cy="39624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540A455-8392-42EE-BCE3-2DBD765CD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2925" y="3794043"/>
            <a:ext cx="449582" cy="449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B5284F3B-408B-4D88-94CB-616D4B0DC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596" y="1558244"/>
            <a:ext cx="396240" cy="39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F5A38AD-87EC-4D54-8E83-501411E9C54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6019800"/>
            <a:ext cx="473054" cy="473054"/>
          </a:xfrm>
          <a:prstGeom prst="rect">
            <a:avLst/>
          </a:prstGeom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04BE2A64-C3B8-4782-BD5E-A38139E03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907" y="6111235"/>
            <a:ext cx="381619" cy="381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object 2">
            <a:extLst>
              <a:ext uri="{FF2B5EF4-FFF2-40B4-BE49-F238E27FC236}">
                <a16:creationId xmlns:a16="http://schemas.microsoft.com/office/drawing/2014/main" id="{C5FFD8BF-2EAF-4D66-9875-BD7447F06094}"/>
              </a:ext>
            </a:extLst>
          </p:cNvPr>
          <p:cNvSpPr txBox="1">
            <a:spLocks/>
          </p:cNvSpPr>
          <p:nvPr/>
        </p:nvSpPr>
        <p:spPr>
          <a:xfrm>
            <a:off x="2385337" y="3820447"/>
            <a:ext cx="3905250" cy="197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000" b="0" i="0">
                <a:solidFill>
                  <a:srgbClr val="1D1D1B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2000" b="1" spc="-1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стили интерфейса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адаптивная вёрстка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быстрый дизайн </a:t>
            </a: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endParaRPr lang="ru-RU" sz="2000" b="1" spc="-10" dirty="0">
              <a:solidFill>
                <a:srgbClr val="6060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object 2">
            <a:extLst>
              <a:ext uri="{FF2B5EF4-FFF2-40B4-BE49-F238E27FC236}">
                <a16:creationId xmlns:a16="http://schemas.microsoft.com/office/drawing/2014/main" id="{727E8A28-AEA0-4A81-804B-FCA7CF50C865}"/>
              </a:ext>
            </a:extLst>
          </p:cNvPr>
          <p:cNvSpPr txBox="1">
            <a:spLocks/>
          </p:cNvSpPr>
          <p:nvPr/>
        </p:nvSpPr>
        <p:spPr>
          <a:xfrm>
            <a:off x="2388680" y="1558244"/>
            <a:ext cx="3905250" cy="16132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000" b="0" i="0">
                <a:solidFill>
                  <a:srgbClr val="1D1D1B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lang="ru-RU" sz="2400" spc="-2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Next.js</a:t>
            </a:r>
            <a:endParaRPr lang="ru-RU" sz="2400" dirty="0">
              <a:solidFill>
                <a:srgbClr val="6060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2000" b="1" spc="-1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Реализовано: </a:t>
            </a:r>
          </a:p>
          <a:p>
            <a:pPr marL="342900" lvl="8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маршрутизация страниц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серверный рендеринг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загрузки </a:t>
            </a:r>
            <a:endParaRPr lang="ru-RU" sz="2000" dirty="0">
              <a:solidFill>
                <a:srgbClr val="6060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object 2">
            <a:extLst>
              <a:ext uri="{FF2B5EF4-FFF2-40B4-BE49-F238E27FC236}">
                <a16:creationId xmlns:a16="http://schemas.microsoft.com/office/drawing/2014/main" id="{2DB42C05-F2BF-41BB-A217-865074EAD2B4}"/>
              </a:ext>
            </a:extLst>
          </p:cNvPr>
          <p:cNvSpPr txBox="1">
            <a:spLocks/>
          </p:cNvSpPr>
          <p:nvPr/>
        </p:nvSpPr>
        <p:spPr>
          <a:xfrm>
            <a:off x="8654789" y="6082650"/>
            <a:ext cx="3905250" cy="16645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000" b="0" i="0">
                <a:solidFill>
                  <a:srgbClr val="1D1D1B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lang="en-US" sz="2400" dirty="0" err="1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endParaRPr lang="en-US" sz="2400" dirty="0">
              <a:solidFill>
                <a:srgbClr val="6060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lang="ru-RU" sz="2000" b="1" spc="-1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прогресса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данных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восстановление состояния </a:t>
            </a:r>
          </a:p>
        </p:txBody>
      </p:sp>
      <p:sp>
        <p:nvSpPr>
          <p:cNvPr id="41" name="object 2">
            <a:extLst>
              <a:ext uri="{FF2B5EF4-FFF2-40B4-BE49-F238E27FC236}">
                <a16:creationId xmlns:a16="http://schemas.microsoft.com/office/drawing/2014/main" id="{BFF73E61-3686-4953-9F2D-0AA265139BCB}"/>
              </a:ext>
            </a:extLst>
          </p:cNvPr>
          <p:cNvSpPr txBox="1">
            <a:spLocks/>
          </p:cNvSpPr>
          <p:nvPr/>
        </p:nvSpPr>
        <p:spPr>
          <a:xfrm>
            <a:off x="2375399" y="6082650"/>
            <a:ext cx="3905250" cy="197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000" b="0" i="0">
                <a:solidFill>
                  <a:srgbClr val="1D1D1B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2000" b="1" spc="-1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графиков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данных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цен </a:t>
            </a: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endParaRPr lang="ru-RU" sz="2000" b="1" spc="-10" dirty="0">
              <a:solidFill>
                <a:srgbClr val="6060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bject 2">
            <a:extLst>
              <a:ext uri="{FF2B5EF4-FFF2-40B4-BE49-F238E27FC236}">
                <a16:creationId xmlns:a16="http://schemas.microsoft.com/office/drawing/2014/main" id="{88BE1B91-01BF-4048-8322-85BA75EB1C76}"/>
              </a:ext>
            </a:extLst>
          </p:cNvPr>
          <p:cNvSpPr txBox="1">
            <a:spLocks/>
          </p:cNvSpPr>
          <p:nvPr/>
        </p:nvSpPr>
        <p:spPr>
          <a:xfrm>
            <a:off x="8650307" y="3820447"/>
            <a:ext cx="3905250" cy="16645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000" b="0" i="0">
                <a:solidFill>
                  <a:srgbClr val="1D1D1B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lang="ru-RU" sz="2000" b="1" spc="-1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версий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изменений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ветками </a:t>
            </a:r>
          </a:p>
        </p:txBody>
      </p:sp>
      <p:sp>
        <p:nvSpPr>
          <p:cNvPr id="43" name="object 2">
            <a:extLst>
              <a:ext uri="{FF2B5EF4-FFF2-40B4-BE49-F238E27FC236}">
                <a16:creationId xmlns:a16="http://schemas.microsoft.com/office/drawing/2014/main" id="{63C0CFDA-03B8-443A-8AC8-46E698D6D26A}"/>
              </a:ext>
            </a:extLst>
          </p:cNvPr>
          <p:cNvSpPr txBox="1">
            <a:spLocks/>
          </p:cNvSpPr>
          <p:nvPr/>
        </p:nvSpPr>
        <p:spPr>
          <a:xfrm>
            <a:off x="8650307" y="1558244"/>
            <a:ext cx="3905250" cy="16645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000" b="0" i="0">
                <a:solidFill>
                  <a:srgbClr val="1D1D1B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lang="ru-RU" sz="2000" b="1" spc="-1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написание кода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отладка проекта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автодополнение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060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кода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4440" y="266141"/>
            <a:ext cx="340576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sz="4400" b="1" dirty="0">
              <a:solidFill>
                <a:srgbClr val="6060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81304" y="1327531"/>
            <a:ext cx="13068935" cy="5600892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курсовой работы была достигнута поставленная цель — разработано интерактивное веб-приложение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I’m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с использованием современных технологий веб-разработки. В процессе работы были изучены основные подходы и инструменты, такие как Next.js,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Различные библиотеки.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Особое внимание уделено проектированию архитектуры приложения на основе принципов модульности и разделения ответственности, что обеспечило удобную и расширяемую структуру проекта.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практической части реализованы 12 игровых уровней с различными механиками, а также система сохранения пользовательского прогресса с использованием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Проведённое тестирование подтвердило стабильную работу приложения. Результаты работы показывают достижение поставленных задач и возможность использования проекта как учебного и демонстрационного примера.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1728" y="3492246"/>
            <a:ext cx="8662671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971800" algn="l"/>
              </a:tabLst>
            </a:pPr>
            <a:r>
              <a:rPr b="1" spc="-10" dirty="0" err="1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</a:t>
            </a:r>
            <a:r>
              <a:rPr lang="en-US" b="1" spc="-1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err="1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b="1" spc="-55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solidFill>
                  <a:srgbClr val="6060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1504</TotalTime>
  <Words>299</Words>
  <Application>Microsoft Office PowerPoint</Application>
  <PresentationFormat>Произвольный</PresentationFormat>
  <Paragraphs>58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Times New Roman</vt:lpstr>
      <vt:lpstr>Office Theme</vt:lpstr>
      <vt:lpstr>Презентация PowerPoint</vt:lpstr>
      <vt:lpstr>Цель, актуальность, задачи </vt:lpstr>
      <vt:lpstr>Характеристика платформы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Денисюк Алексей Валерьевич</dc:creator>
  <cp:lastModifiedBy>alik</cp:lastModifiedBy>
  <cp:revision>25</cp:revision>
  <dcterms:created xsi:type="dcterms:W3CDTF">2026-05-04T13:27:18Z</dcterms:created>
  <dcterms:modified xsi:type="dcterms:W3CDTF">2026-05-05T15:20:32Z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2026-05-04T00:00:00Z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2026-05-04T00:00:00Z</vt:filetime>
  </property>
  <property fmtid="{D5CDD505-2E9C-101B-9397-08002B2CF9AE}" pid="5" name="Producer">
    <vt:lpwstr>Microsoft® PowerPoint® LTSC</vt:lpwstr>
  </property>
</Properties>
</file>